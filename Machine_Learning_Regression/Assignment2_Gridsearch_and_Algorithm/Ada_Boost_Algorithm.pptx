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0" r:id="rId3"/>
    <p:sldId id="257" r:id="rId4"/>
    <p:sldId id="261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0A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68" autoAdjust="0"/>
    <p:restoredTop sz="94660"/>
  </p:normalViewPr>
  <p:slideViewPr>
    <p:cSldViewPr>
      <p:cViewPr varScale="1">
        <p:scale>
          <a:sx n="87" d="100"/>
          <a:sy n="87" d="100"/>
        </p:scale>
        <p:origin x="-1146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1EB760D-0AB4-4A1A-A23C-BF7CE48BC064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411760" y="116632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sz="2400" dirty="0"/>
          </a:p>
          <a:p>
            <a:r>
              <a:rPr lang="en-IN" sz="2400" dirty="0"/>
              <a:t> </a:t>
            </a:r>
            <a:r>
              <a:rPr lang="en-IN" sz="2400" b="1" dirty="0"/>
              <a:t>Hope Artificial Intelligence </a:t>
            </a:r>
            <a:endParaRPr lang="en-IN" sz="2400" dirty="0"/>
          </a:p>
        </p:txBody>
      </p:sp>
      <p:sp>
        <p:nvSpPr>
          <p:cNvPr id="5" name="Rectangle 4"/>
          <p:cNvSpPr/>
          <p:nvPr/>
        </p:nvSpPr>
        <p:spPr>
          <a:xfrm>
            <a:off x="3059832" y="1032109"/>
            <a:ext cx="32403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 smtClean="0">
                <a:solidFill>
                  <a:schemeClr val="accent5"/>
                </a:solidFill>
              </a:rPr>
              <a:t>AdaBoost</a:t>
            </a:r>
            <a:r>
              <a:rPr lang="en-US" sz="2000" b="1" dirty="0" smtClean="0">
                <a:solidFill>
                  <a:schemeClr val="accent5"/>
                </a:solidFill>
              </a:rPr>
              <a:t> </a:t>
            </a:r>
            <a:r>
              <a:rPr lang="en-US" sz="2000" b="1" dirty="0">
                <a:solidFill>
                  <a:schemeClr val="accent5"/>
                </a:solidFill>
              </a:rPr>
              <a:t>Regression</a:t>
            </a:r>
            <a:endParaRPr lang="en-IN" sz="2000" b="1" u="sng" dirty="0">
              <a:solidFill>
                <a:schemeClr val="accent5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35596" y="1434429"/>
            <a:ext cx="748883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>
                <a:latin typeface="Calibri" pitchFamily="34" charset="0"/>
                <a:cs typeface="Calibri" pitchFamily="34" charset="0"/>
              </a:rPr>
              <a:t>AdaBoost</a:t>
            </a:r>
            <a:r>
              <a:rPr lang="en-US" sz="1600" dirty="0">
                <a:latin typeface="Calibri" pitchFamily="34" charset="0"/>
                <a:cs typeface="Calibri" pitchFamily="34" charset="0"/>
              </a:rPr>
              <a:t> (Adaptive Boosting) is an ensemble learning algorithm that combines multiple weak learners to create a strong predictive </a:t>
            </a:r>
            <a:r>
              <a:rPr lang="en-US" sz="1600" dirty="0" smtClean="0">
                <a:latin typeface="Calibri" pitchFamily="34" charset="0"/>
                <a:cs typeface="Calibri" pitchFamily="34" charset="0"/>
              </a:rPr>
              <a:t>model. It </a:t>
            </a:r>
            <a:r>
              <a:rPr lang="en-US" sz="1600" dirty="0">
                <a:latin typeface="Calibri" pitchFamily="34" charset="0"/>
                <a:cs typeface="Calibri" pitchFamily="34" charset="0"/>
              </a:rPr>
              <a:t>trains models sequentially, giving more weight to data points that were previously </a:t>
            </a:r>
            <a:r>
              <a:rPr lang="en-US" sz="1600" dirty="0" smtClean="0">
                <a:latin typeface="Calibri" pitchFamily="34" charset="0"/>
                <a:cs typeface="Calibri" pitchFamily="34" charset="0"/>
              </a:rPr>
              <a:t>misclassified. By </a:t>
            </a:r>
            <a:r>
              <a:rPr lang="en-US" sz="1600" dirty="0">
                <a:latin typeface="Calibri" pitchFamily="34" charset="0"/>
                <a:cs typeface="Calibri" pitchFamily="34" charset="0"/>
              </a:rPr>
              <a:t>focusing on errors and updating weights, </a:t>
            </a:r>
            <a:r>
              <a:rPr lang="en-US" sz="1600" dirty="0" err="1">
                <a:latin typeface="Calibri" pitchFamily="34" charset="0"/>
                <a:cs typeface="Calibri" pitchFamily="34" charset="0"/>
              </a:rPr>
              <a:t>AdaBoost</a:t>
            </a:r>
            <a:r>
              <a:rPr lang="en-US" sz="1600" dirty="0">
                <a:latin typeface="Calibri" pitchFamily="34" charset="0"/>
                <a:cs typeface="Calibri" pitchFamily="34" charset="0"/>
              </a:rPr>
              <a:t> improves accuracy and reduces bias.</a:t>
            </a:r>
            <a:endParaRPr lang="en-IN" sz="16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987824" y="2636912"/>
            <a:ext cx="564326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err="1" smtClean="0">
                <a:solidFill>
                  <a:schemeClr val="accent5"/>
                </a:solidFill>
              </a:rPr>
              <a:t>AdaBoost</a:t>
            </a:r>
            <a:r>
              <a:rPr lang="en-US" sz="1600" b="1" dirty="0" smtClean="0">
                <a:solidFill>
                  <a:schemeClr val="accent5"/>
                </a:solidFill>
              </a:rPr>
              <a:t> </a:t>
            </a:r>
            <a:r>
              <a:rPr lang="en-US" sz="1600" b="1" dirty="0" err="1" smtClean="0">
                <a:solidFill>
                  <a:schemeClr val="accent5"/>
                </a:solidFill>
              </a:rPr>
              <a:t>Hyperparameter</a:t>
            </a:r>
            <a:r>
              <a:rPr lang="en-US" sz="1600" b="1" dirty="0" smtClean="0">
                <a:solidFill>
                  <a:schemeClr val="accent5"/>
                </a:solidFill>
              </a:rPr>
              <a:t> table</a:t>
            </a:r>
            <a:endParaRPr lang="en-IN" sz="1600" b="1" dirty="0">
              <a:solidFill>
                <a:schemeClr val="accent5"/>
              </a:solidFill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3212976"/>
            <a:ext cx="6192688" cy="3384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62552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987824" y="898493"/>
            <a:ext cx="317343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 smtClean="0">
                <a:solidFill>
                  <a:schemeClr val="accent5"/>
                </a:solidFill>
              </a:rPr>
              <a:t>Ada</a:t>
            </a:r>
            <a:r>
              <a:rPr lang="en-US" sz="2200" b="1" dirty="0" smtClean="0">
                <a:solidFill>
                  <a:schemeClr val="accent5"/>
                </a:solidFill>
              </a:rPr>
              <a:t> </a:t>
            </a:r>
            <a:r>
              <a:rPr lang="en-US" sz="2200" b="1" dirty="0" smtClean="0">
                <a:solidFill>
                  <a:schemeClr val="accent5"/>
                </a:solidFill>
              </a:rPr>
              <a:t>Boost - </a:t>
            </a:r>
            <a:r>
              <a:rPr lang="en-US" sz="2200" b="1" dirty="0" smtClean="0">
                <a:solidFill>
                  <a:schemeClr val="accent5"/>
                </a:solidFill>
              </a:rPr>
              <a:t>Algorithm</a:t>
            </a:r>
            <a:endParaRPr lang="en-IN" sz="2200" b="1" dirty="0">
              <a:solidFill>
                <a:schemeClr val="accent5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638" y="1932498"/>
            <a:ext cx="6696744" cy="3694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64921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187624" y="1484784"/>
            <a:ext cx="727280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latin typeface="Calibri" pitchFamily="34" charset="0"/>
                <a:cs typeface="Calibri" pitchFamily="34" charset="0"/>
              </a:rPr>
              <a:t>The </a:t>
            </a:r>
            <a:r>
              <a:rPr lang="en-US" sz="1600" dirty="0" err="1">
                <a:latin typeface="Calibri" pitchFamily="34" charset="0"/>
                <a:cs typeface="Calibri" pitchFamily="34" charset="0"/>
              </a:rPr>
              <a:t>AdaBoost</a:t>
            </a:r>
            <a:r>
              <a:rPr lang="en-US" sz="1600" dirty="0">
                <a:latin typeface="Calibri" pitchFamily="34" charset="0"/>
                <a:cs typeface="Calibri" pitchFamily="34" charset="0"/>
              </a:rPr>
              <a:t> regression prediction is the </a:t>
            </a:r>
            <a:r>
              <a:rPr lang="en-US" sz="1600" b="1" dirty="0">
                <a:latin typeface="Calibri" pitchFamily="34" charset="0"/>
                <a:cs typeface="Calibri" pitchFamily="34" charset="0"/>
              </a:rPr>
              <a:t>weighted median</a:t>
            </a:r>
            <a:r>
              <a:rPr lang="en-US" sz="1600" dirty="0">
                <a:latin typeface="Calibri" pitchFamily="34" charset="0"/>
                <a:cs typeface="Calibri" pitchFamily="34" charset="0"/>
              </a:rPr>
              <a:t> or </a:t>
            </a:r>
            <a:r>
              <a:rPr lang="en-US" sz="1600" b="1" dirty="0">
                <a:latin typeface="Calibri" pitchFamily="34" charset="0"/>
                <a:cs typeface="Calibri" pitchFamily="34" charset="0"/>
              </a:rPr>
              <a:t>weighted mean</a:t>
            </a:r>
            <a:r>
              <a:rPr lang="en-US" sz="1600" dirty="0">
                <a:latin typeface="Calibri" pitchFamily="34" charset="0"/>
                <a:cs typeface="Calibri" pitchFamily="34" charset="0"/>
              </a:rPr>
              <a:t> of the predictions from all the individual weak learners in the ensemble</a:t>
            </a:r>
            <a:r>
              <a:rPr lang="en-US" sz="1600" dirty="0">
                <a:latin typeface="Calibri" pitchFamily="34" charset="0"/>
                <a:cs typeface="Calibri" pitchFamily="34" charset="0"/>
              </a:rPr>
              <a:t>. The general formula for the final ensemble </a:t>
            </a:r>
            <a:r>
              <a:rPr lang="en-US" sz="1600" dirty="0" smtClean="0">
                <a:latin typeface="Calibri" pitchFamily="34" charset="0"/>
                <a:cs typeface="Calibri" pitchFamily="34" charset="0"/>
              </a:rPr>
              <a:t>prediction is:</a:t>
            </a:r>
            <a:endParaRPr lang="en-US" sz="16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245437" y="735908"/>
            <a:ext cx="527259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 err="1" smtClean="0">
                <a:solidFill>
                  <a:schemeClr val="accent5"/>
                </a:solidFill>
              </a:rPr>
              <a:t>Ada</a:t>
            </a:r>
            <a:r>
              <a:rPr lang="en-IN" sz="2000" b="1" dirty="0" err="1" smtClean="0">
                <a:solidFill>
                  <a:schemeClr val="accent5"/>
                </a:solidFill>
              </a:rPr>
              <a:t>Boost</a:t>
            </a:r>
            <a:r>
              <a:rPr lang="en-IN" sz="2000" b="1" dirty="0" smtClean="0">
                <a:solidFill>
                  <a:schemeClr val="accent5"/>
                </a:solidFill>
              </a:rPr>
              <a:t> </a:t>
            </a:r>
            <a:r>
              <a:rPr lang="en-IN" sz="2000" b="1" dirty="0">
                <a:solidFill>
                  <a:schemeClr val="accent5"/>
                </a:solidFill>
              </a:rPr>
              <a:t>Regression Prediction Formula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2852936"/>
            <a:ext cx="2304256" cy="936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5212" y="4149080"/>
            <a:ext cx="5534481" cy="1728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98418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71072" y="737475"/>
            <a:ext cx="346780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rPr dirty="0">
                <a:solidFill>
                  <a:schemeClr val="accent5"/>
                </a:solidFill>
              </a:rPr>
              <a:t>Why </a:t>
            </a:r>
            <a:r>
              <a:rPr lang="en-US" dirty="0" err="1" smtClean="0">
                <a:solidFill>
                  <a:schemeClr val="accent5"/>
                </a:solidFill>
              </a:rPr>
              <a:t>Ada</a:t>
            </a:r>
            <a:r>
              <a:rPr dirty="0" err="1" smtClean="0">
                <a:solidFill>
                  <a:schemeClr val="accent5"/>
                </a:solidFill>
              </a:rPr>
              <a:t>Boost</a:t>
            </a:r>
            <a:r>
              <a:rPr dirty="0">
                <a:solidFill>
                  <a:schemeClr val="accent5"/>
                </a:solidFill>
              </a:rPr>
              <a:t>?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2060848"/>
            <a:ext cx="4089807" cy="3352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3504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ssential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Essential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sential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916</TotalTime>
  <Words>80</Words>
  <Application>Microsoft Office PowerPoint</Application>
  <PresentationFormat>On-screen Show (4:3)</PresentationFormat>
  <Paragraphs>9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Essential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25</cp:revision>
  <dcterms:created xsi:type="dcterms:W3CDTF">2026-01-12T09:38:17Z</dcterms:created>
  <dcterms:modified xsi:type="dcterms:W3CDTF">2026-01-16T11:54:40Z</dcterms:modified>
</cp:coreProperties>
</file>